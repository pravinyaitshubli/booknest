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6" r:id="rId9"/>
    <p:sldId id="26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6107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pravinyaits@gmail.co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pravinyainfo.com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600" y="557349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BookNest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41550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Information Management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26343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Your Library Operations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55600" y="2583543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Solution for Efficient Library Management</a:t>
            </a:r>
            <a:endParaRPr lang="en-US" sz="16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9713" y="4778676"/>
            <a:ext cx="3951061" cy="164593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72674"/>
            <a:ext cx="9144000" cy="20708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813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library management faces significant obstacles: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88060" y="1615440"/>
            <a:ext cx="3380740" cy="145796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  <a:effectLst>
            <a:outerShdw blurRad="381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25219" y="1752600"/>
            <a:ext cx="563457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1125219" y="1752600"/>
            <a:ext cx="56345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⏱️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19579" y="1798320"/>
            <a:ext cx="22538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70939" y="2301240"/>
            <a:ext cx="29299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 consume staff resources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024120" y="1600200"/>
            <a:ext cx="3167380" cy="145796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  <a:effectLst>
            <a:outerShdw blurRad="381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61279" y="1737360"/>
            <a:ext cx="563457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5161279" y="1737360"/>
            <a:ext cx="56345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55639" y="1783080"/>
            <a:ext cx="22538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Issues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06999" y="2286000"/>
            <a:ext cx="2929975" cy="673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tracking multiple book copies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264399" y="1737360"/>
            <a:ext cx="56345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👥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988060" y="3266440"/>
            <a:ext cx="338074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  <a:effectLst>
            <a:outerShdw blurRad="381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14"/>
          <p:cNvSpPr/>
          <p:nvPr/>
        </p:nvSpPr>
        <p:spPr>
          <a:xfrm>
            <a:off x="1125219" y="3403600"/>
            <a:ext cx="563457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7" name="Text 16"/>
          <p:cNvSpPr/>
          <p:nvPr/>
        </p:nvSpPr>
        <p:spPr>
          <a:xfrm>
            <a:off x="1719579" y="3449320"/>
            <a:ext cx="22538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Tracking</a:t>
            </a:r>
            <a:endParaRPr lang="en-US" dirty="0"/>
          </a:p>
        </p:txBody>
      </p:sp>
      <p:sp>
        <p:nvSpPr>
          <p:cNvPr id="28" name="Text 17"/>
          <p:cNvSpPr/>
          <p:nvPr/>
        </p:nvSpPr>
        <p:spPr>
          <a:xfrm>
            <a:off x="1170939" y="3952240"/>
            <a:ext cx="2929975" cy="657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manage member data and history</a:t>
            </a:r>
            <a:endParaRPr lang="en-US" dirty="0"/>
          </a:p>
        </p:txBody>
      </p:sp>
      <p:sp>
        <p:nvSpPr>
          <p:cNvPr id="29" name="Shape 18"/>
          <p:cNvSpPr/>
          <p:nvPr/>
        </p:nvSpPr>
        <p:spPr>
          <a:xfrm>
            <a:off x="5024120" y="3329940"/>
            <a:ext cx="3112854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  <a:effectLst>
            <a:outerShdw blurRad="381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19"/>
          <p:cNvSpPr/>
          <p:nvPr/>
        </p:nvSpPr>
        <p:spPr>
          <a:xfrm>
            <a:off x="5161279" y="3467100"/>
            <a:ext cx="563457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1" name="Text 20"/>
          <p:cNvSpPr/>
          <p:nvPr/>
        </p:nvSpPr>
        <p:spPr>
          <a:xfrm>
            <a:off x="5161279" y="3467100"/>
            <a:ext cx="56345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📊</a:t>
            </a:r>
            <a:endParaRPr lang="en-US" sz="1600" dirty="0"/>
          </a:p>
        </p:txBody>
      </p:sp>
      <p:sp>
        <p:nvSpPr>
          <p:cNvPr id="32" name="Text 21"/>
          <p:cNvSpPr/>
          <p:nvPr/>
        </p:nvSpPr>
        <p:spPr>
          <a:xfrm>
            <a:off x="5755639" y="3512820"/>
            <a:ext cx="22538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Insights</a:t>
            </a:r>
            <a:endParaRPr lang="en-US" dirty="0"/>
          </a:p>
        </p:txBody>
      </p:sp>
      <p:sp>
        <p:nvSpPr>
          <p:cNvPr id="33" name="Text 22"/>
          <p:cNvSpPr/>
          <p:nvPr/>
        </p:nvSpPr>
        <p:spPr>
          <a:xfrm>
            <a:off x="5206999" y="4015740"/>
            <a:ext cx="2929975" cy="657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reporting and analytics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BookNest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Library Management in One Platform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66700" y="1737360"/>
            <a:ext cx="4396740" cy="43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book circulation &amp; tracking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66700" y="2148840"/>
            <a:ext cx="4396740" cy="43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management &amp; record keeping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66700" y="2560320"/>
            <a:ext cx="43967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&amp; periodical subscriptions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6700" y="2971800"/>
            <a:ext cx="4396740" cy="61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&amp; fine calculations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6700" y="3383280"/>
            <a:ext cx="43967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Barcode &amp; Multi-branch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6700" y="3906520"/>
            <a:ext cx="4396740" cy="485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reporting &amp; analytics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35600" y="1066800"/>
            <a:ext cx="3251200" cy="3474720"/>
          </a:xfrm>
          <a:prstGeom prst="roundRect">
            <a:avLst>
              <a:gd name="adj" fmla="val 2632"/>
            </a:avLst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5610860" y="1236980"/>
            <a:ext cx="30243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610860" y="1557020"/>
            <a:ext cx="30243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10860" y="2105660"/>
            <a:ext cx="30243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610860" y="2425700"/>
            <a:ext cx="30243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Tracking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10860" y="2974340"/>
            <a:ext cx="30243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610860" y="3294380"/>
            <a:ext cx="30243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Access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10860" y="3843020"/>
            <a:ext cx="30243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610860" y="4163060"/>
            <a:ext cx="30243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  <a:effectLst>
            <a:outerShdw blurRad="381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📖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8872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Management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17195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catalog with categories and details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  <a:effectLst>
            <a:outerShdw blurRad="381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2344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🔄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11480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System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66160" y="17195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issue &amp; return processing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10972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  <a:effectLst>
            <a:outerShdw blurRad="381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12344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👤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04088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Portal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92240" y="17195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account &amp; borrow history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  <a:effectLst>
            <a:outerShdw blurRad="381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📊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18872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0080" y="3561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reports &amp; insights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383280" y="29260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  <a:effectLst>
            <a:outerShdw blurRad="381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20440" y="30632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🎓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411480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566160" y="3561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students, staff &amp; visitors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09360" y="29260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  <a:effectLst>
            <a:outerShdw blurRad="381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30632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🌐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704088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Access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492240" y="3561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availability from anywhere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for Your Institution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Increased Efficiency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97280" y="165912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work by 80%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011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Service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97280" y="236016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checkout &amp; request processing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7889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Savings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97280" y="309930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operational overhead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566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Satisfaction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97280" y="39400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user experience and accessibility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70AD47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529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on Investment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212080" y="21463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book processing saves 20+ hours/week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12080" y="26492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lost books by 40%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12080" y="31521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late fees tracking overhead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12080" y="37007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member retention by 30%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🎓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Educational Institutions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27914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31755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35468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📚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429000" y="2057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Libraries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29000" y="27914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31755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29000" y="35468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63640" y="118872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🏢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446520" y="2057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Libraries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46520" y="27914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46520" y="31755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Centers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6520" y="35468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Tanks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Excellence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2776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009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00400" y="12009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10.4.32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72212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952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00400" y="17952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8.2.12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231648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896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00400" y="238963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(Presentation, Business, Data)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" y="291084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839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Tables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00400" y="29839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 Comprehensive Tables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200" y="350520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783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00400" y="357835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Web-Based Access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57200" y="409956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727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00400" y="41727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Connections &amp; Role-Based Access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Choose BookNest?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1430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Solution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51560" y="14676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50+ institutions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49240" y="11430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Integration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49240" y="14676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migration of existing data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1920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Support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51560" y="22067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team of professionals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87452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49240" y="1920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Updates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49240" y="22067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features and improvements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51560" y="26974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51560" y="29839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your institution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265176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49240" y="26974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Affordable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349240" y="29839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pricing for all sizes</a:t>
            </a:r>
            <a:endParaRPr lang="en-US" sz="1600" dirty="0"/>
          </a:p>
        </p:txBody>
      </p:sp>
      <p:sp>
        <p:nvSpPr>
          <p:cNvPr id="28" name="Rectangle 27"/>
          <p:cNvSpPr/>
          <p:nvPr/>
        </p:nvSpPr>
        <p:spPr>
          <a:xfrm>
            <a:off x="1690370" y="3371088"/>
            <a:ext cx="6540500" cy="156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tabLst>
                <a:tab pos="2971800" algn="ctr"/>
                <a:tab pos="5943600" algn="r"/>
              </a:tabLst>
            </a:pPr>
            <a:r>
              <a:rPr lang="en-US"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Pravinya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Infotech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Hubballi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tabLst>
                <a:tab pos="2971800" algn="ctr"/>
                <a:tab pos="5943600" algn="r"/>
              </a:tabLs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#41,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Ambikanagar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Tajnagar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Main Road, Near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Channappana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Lake,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Unkal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Extension-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Hubballi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- 580031 Karnataka (India)  </a:t>
            </a:r>
          </a:p>
          <a:p>
            <a:pPr algn="ctr">
              <a:tabLst>
                <a:tab pos="2971800" algn="ctr"/>
                <a:tab pos="5943600" algn="r"/>
              </a:tabLs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Email: </a:t>
            </a:r>
            <a:r>
              <a:rPr lang="en-US" u="sng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pravinyaits@gmail.com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Mobile: 9448821697</a:t>
            </a:r>
          </a:p>
          <a:p>
            <a:pPr algn="ctr">
              <a:tabLst>
                <a:tab pos="2971800" algn="ctr"/>
                <a:tab pos="5943600" algn="r"/>
              </a:tabLst>
            </a:pPr>
            <a:r>
              <a:rPr lang="en-US" u="sng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www.pravinyainfo.com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04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Transform Your Library?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5087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schedule a demo and explore how BookNest can streamline your operations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55980" y="2560320"/>
            <a:ext cx="2923540" cy="164592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855980" y="2697480"/>
            <a:ext cx="29235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📧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47420" y="3246120"/>
            <a:ext cx="26577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47420" y="3419583"/>
            <a:ext cx="26577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pravinyaits@gmail.com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33420" y="2560320"/>
            <a:ext cx="2923540" cy="164592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3233420" y="2697480"/>
            <a:ext cx="29235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📞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24860" y="3246120"/>
            <a:ext cx="26577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24860" y="3419583"/>
            <a:ext cx="26577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+91 9448821697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10860" y="2560320"/>
            <a:ext cx="2923540" cy="164592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5610860" y="2697480"/>
            <a:ext cx="29235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🌐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702300" y="3246120"/>
            <a:ext cx="26577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02300" y="3419583"/>
            <a:ext cx="26577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www.pravinyainfo.com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Your Library Today</a:t>
            </a:r>
            <a:endParaRPr lang="en-US" sz="2400" dirty="0"/>
          </a:p>
        </p:txBody>
      </p:sp>
      <p:sp>
        <p:nvSpPr>
          <p:cNvPr id="17" name="TextBox 84">
            <a:extLst>
              <a:ext uri="{FF2B5EF4-FFF2-40B4-BE49-F238E27FC236}">
                <a16:creationId xmlns:a16="http://schemas.microsoft.com/office/drawing/2014/main" id="{6CEC5B1B-B4A1-9A8C-41CD-70802C9FEB84}"/>
              </a:ext>
            </a:extLst>
          </p:cNvPr>
          <p:cNvSpPr txBox="1"/>
          <p:nvPr/>
        </p:nvSpPr>
        <p:spPr>
          <a:xfrm>
            <a:off x="2619532" y="3824289"/>
            <a:ext cx="3788246" cy="33855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Dr. </a:t>
            </a:r>
            <a:r>
              <a:rPr lang="en-US" sz="1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Prakashgoud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Patil (Dr. P R Patil )</a:t>
            </a:r>
            <a:endParaRPr lang="en-US" sz="16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421</Words>
  <Application>Microsoft Office PowerPoint</Application>
  <PresentationFormat>On-screen Show (16:9)</PresentationFormat>
  <Paragraphs>145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BookNest - Library Management Solutions</dc:title>
  <dc:subject>PptxGenJS Presentation</dc:subject>
  <dc:creator>BookNest Marketing</dc:creator>
  <cp:lastModifiedBy>Praneet Patil</cp:lastModifiedBy>
  <cp:revision>19</cp:revision>
  <dcterms:created xsi:type="dcterms:W3CDTF">2026-06-18T02:53:01Z</dcterms:created>
  <dcterms:modified xsi:type="dcterms:W3CDTF">2026-06-19T03:35:52Z</dcterms:modified>
</cp:coreProperties>
</file>