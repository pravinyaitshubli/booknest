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64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0F1235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74320"/>
            <a:ext cx="594360" cy="59436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BookNest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18872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Information Management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950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Library Operations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03520" y="182880"/>
            <a:ext cx="868680" cy="1280160"/>
          </a:xfrm>
          <a:prstGeom prst="roundRect">
            <a:avLst>
              <a:gd name="adj" fmla="val 10526"/>
            </a:avLst>
          </a:prstGeom>
          <a:solidFill>
            <a:srgbClr val="2A3068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274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0" y="8046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"/>
            <a:ext cx="868680" cy="1280160"/>
          </a:xfrm>
          <a:prstGeom prst="roundRect">
            <a:avLst>
              <a:gd name="adj" fmla="val 10526"/>
            </a:avLst>
          </a:prstGeom>
          <a:solidFill>
            <a:srgbClr val="2A3068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74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263640" y="8046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223760" y="182880"/>
            <a:ext cx="868680" cy="1280160"/>
          </a:xfrm>
          <a:prstGeom prst="roundRect">
            <a:avLst>
              <a:gd name="adj" fmla="val 10526"/>
            </a:avLst>
          </a:prstGeom>
          <a:solidFill>
            <a:srgbClr val="2A3068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274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223760" y="8046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183880" y="182880"/>
            <a:ext cx="868680" cy="1280160"/>
          </a:xfrm>
          <a:prstGeom prst="roundRect">
            <a:avLst>
              <a:gd name="adj" fmla="val 10526"/>
            </a:avLst>
          </a:prstGeom>
          <a:solidFill>
            <a:srgbClr val="2A3068"/>
          </a:solidFill>
          <a:ln/>
        </p:spPr>
      </p:sp>
      <p:sp>
        <p:nvSpPr>
          <p:cNvPr id="18" name="Text 15"/>
          <p:cNvSpPr/>
          <p:nvPr/>
        </p:nvSpPr>
        <p:spPr>
          <a:xfrm>
            <a:off x="8183880" y="274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183880" y="8046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Us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1148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205740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A3068"/>
          </a:solidFill>
          <a:ln/>
        </p:spPr>
      </p:sp>
      <p:sp>
        <p:nvSpPr>
          <p:cNvPr id="22" name="Shape 19"/>
          <p:cNvSpPr/>
          <p:nvPr/>
        </p:nvSpPr>
        <p:spPr>
          <a:xfrm>
            <a:off x="521208" y="2194560"/>
            <a:ext cx="365760" cy="365760"/>
          </a:xfrm>
          <a:prstGeom prst="ellipse">
            <a:avLst/>
          </a:prstGeom>
          <a:solidFill>
            <a:srgbClr val="2E4A8A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67712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6012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6012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catalog with categories, copies, and detailed records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3246120" y="205740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A3068"/>
          </a:solidFill>
          <a:ln/>
        </p:spPr>
      </p:sp>
      <p:sp>
        <p:nvSpPr>
          <p:cNvPr id="27" name="Shape 23"/>
          <p:cNvSpPr/>
          <p:nvPr/>
        </p:nvSpPr>
        <p:spPr>
          <a:xfrm>
            <a:off x="3355848" y="2194560"/>
            <a:ext cx="365760" cy="365760"/>
          </a:xfrm>
          <a:prstGeom prst="ellipse">
            <a:avLst/>
          </a:prstGeom>
          <a:solidFill>
            <a:srgbClr val="2E4A8A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26771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9476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System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79476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issue, return, and renewal processing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6080760" y="205740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A3068"/>
          </a:solidFill>
          <a:ln/>
        </p:spPr>
      </p:sp>
      <p:sp>
        <p:nvSpPr>
          <p:cNvPr id="32" name="Shape 27"/>
          <p:cNvSpPr/>
          <p:nvPr/>
        </p:nvSpPr>
        <p:spPr>
          <a:xfrm>
            <a:off x="6190488" y="2194560"/>
            <a:ext cx="365760" cy="365760"/>
          </a:xfrm>
          <a:prstGeom prst="ellipse">
            <a:avLst/>
          </a:prstGeom>
          <a:solidFill>
            <a:srgbClr val="2E4A8A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267712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629400" y="2130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62940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account access and borrow history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411480" y="278892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A3068"/>
          </a:solidFill>
          <a:ln/>
        </p:spPr>
      </p:sp>
      <p:sp>
        <p:nvSpPr>
          <p:cNvPr id="37" name="Shape 31"/>
          <p:cNvSpPr/>
          <p:nvPr/>
        </p:nvSpPr>
        <p:spPr>
          <a:xfrm>
            <a:off x="521208" y="2926080"/>
            <a:ext cx="365760" cy="365760"/>
          </a:xfrm>
          <a:prstGeom prst="ellipse">
            <a:avLst/>
          </a:prstGeom>
          <a:solidFill>
            <a:srgbClr val="2E4A8A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99232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6012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96012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with comprehensive insights</a:t>
            </a:r>
            <a:endParaRPr lang="en-US" sz="700" dirty="0"/>
          </a:p>
        </p:txBody>
      </p:sp>
      <p:sp>
        <p:nvSpPr>
          <p:cNvPr id="41" name="Shape 34"/>
          <p:cNvSpPr/>
          <p:nvPr/>
        </p:nvSpPr>
        <p:spPr>
          <a:xfrm>
            <a:off x="3246120" y="278892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A3068"/>
          </a:solidFill>
          <a:ln/>
        </p:spPr>
      </p:sp>
      <p:sp>
        <p:nvSpPr>
          <p:cNvPr id="42" name="Shape 35"/>
          <p:cNvSpPr/>
          <p:nvPr/>
        </p:nvSpPr>
        <p:spPr>
          <a:xfrm>
            <a:off x="3355848" y="2926080"/>
            <a:ext cx="365760" cy="365760"/>
          </a:xfrm>
          <a:prstGeom prst="ellipse">
            <a:avLst/>
          </a:prstGeom>
          <a:solidFill>
            <a:srgbClr val="2E4A8A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999232"/>
            <a:ext cx="219456" cy="21945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79476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Multi-Branch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379476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 support with multi-library management</a:t>
            </a:r>
            <a:endParaRPr lang="en-US" sz="700" dirty="0"/>
          </a:p>
        </p:txBody>
      </p:sp>
      <p:sp>
        <p:nvSpPr>
          <p:cNvPr id="46" name="Shape 38"/>
          <p:cNvSpPr/>
          <p:nvPr/>
        </p:nvSpPr>
        <p:spPr>
          <a:xfrm>
            <a:off x="6080760" y="278892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A3068"/>
          </a:solidFill>
          <a:ln/>
        </p:spPr>
      </p:sp>
      <p:sp>
        <p:nvSpPr>
          <p:cNvPr id="47" name="Shape 39"/>
          <p:cNvSpPr/>
          <p:nvPr/>
        </p:nvSpPr>
        <p:spPr>
          <a:xfrm>
            <a:off x="6190488" y="2926080"/>
            <a:ext cx="365760" cy="365760"/>
          </a:xfrm>
          <a:prstGeom prst="ellipse">
            <a:avLst/>
          </a:prstGeom>
          <a:solidFill>
            <a:srgbClr val="2E4A8A"/>
          </a:solidFill>
          <a:ln/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999232"/>
            <a:ext cx="219456" cy="21945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62940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Scalable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662940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 with role-based access control</a:t>
            </a:r>
            <a:endParaRPr lang="en-US" sz="700" dirty="0"/>
          </a:p>
        </p:txBody>
      </p:sp>
      <p:sp>
        <p:nvSpPr>
          <p:cNvPr id="51" name="Text 42"/>
          <p:cNvSpPr/>
          <p:nvPr/>
        </p:nvSpPr>
        <p:spPr>
          <a:xfrm>
            <a:off x="41148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BOOKNEST?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411480" y="37947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2A3068"/>
          </a:solidFill>
          <a:ln/>
        </p:spPr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3858768"/>
            <a:ext cx="164592" cy="164592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04088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 by 80%</a:t>
            </a:r>
            <a:endParaRPr lang="en-US" sz="65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4792" y="3858768"/>
            <a:ext cx="164592" cy="164592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965960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20+ hours per week</a:t>
            </a:r>
            <a:endParaRPr lang="en-US" sz="65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6664" y="3858768"/>
            <a:ext cx="164592" cy="164592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3227832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lost books by 40%</a:t>
            </a:r>
            <a:endParaRPr lang="en-US" sz="65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8536" y="3858768"/>
            <a:ext cx="164592" cy="164592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4489704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member retention by 30%</a:t>
            </a:r>
            <a:endParaRPr lang="en-US" sz="650" dirty="0"/>
          </a:p>
        </p:txBody>
      </p:sp>
      <p:sp>
        <p:nvSpPr>
          <p:cNvPr id="61" name="Text 48"/>
          <p:cNvSpPr/>
          <p:nvPr/>
        </p:nvSpPr>
        <p:spPr>
          <a:xfrm>
            <a:off x="576072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</a:t>
            </a:r>
            <a:endParaRPr lang="en-US" sz="900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675888"/>
            <a:ext cx="201168" cy="201168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6035040" y="3657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800" dirty="0"/>
          </a:p>
        </p:txBody>
      </p:sp>
      <p:sp>
        <p:nvSpPr>
          <p:cNvPr id="64" name="Text 50"/>
          <p:cNvSpPr/>
          <p:nvPr/>
        </p:nvSpPr>
        <p:spPr>
          <a:xfrm>
            <a:off x="6035040" y="382219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Colleges, Schools</a:t>
            </a:r>
            <a:endParaRPr lang="en-US" sz="650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3931920"/>
            <a:ext cx="201168" cy="201168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6035040" y="39136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Libraries</a:t>
            </a:r>
            <a:endParaRPr lang="en-US" sz="800" dirty="0"/>
          </a:p>
        </p:txBody>
      </p:sp>
      <p:sp>
        <p:nvSpPr>
          <p:cNvPr id="67" name="Text 52"/>
          <p:cNvSpPr/>
          <p:nvPr/>
        </p:nvSpPr>
        <p:spPr>
          <a:xfrm>
            <a:off x="6035040" y="407822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Municipal, Community, Regional</a:t>
            </a:r>
            <a:endParaRPr lang="en-US" sz="650" dirty="0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0720" y="4187952"/>
            <a:ext cx="201168" cy="201168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6035040" y="41696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Libraries</a:t>
            </a:r>
            <a:endParaRPr lang="en-US" sz="800" dirty="0"/>
          </a:p>
        </p:txBody>
      </p:sp>
      <p:sp>
        <p:nvSpPr>
          <p:cNvPr id="70" name="Text 54"/>
          <p:cNvSpPr/>
          <p:nvPr/>
        </p:nvSpPr>
        <p:spPr>
          <a:xfrm>
            <a:off x="6035040" y="433425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B0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Organisations, Research Centers</a:t>
            </a:r>
            <a:endParaRPr lang="en-US" sz="650" dirty="0"/>
          </a:p>
        </p:txBody>
      </p:sp>
      <p:sp>
        <p:nvSpPr>
          <p:cNvPr id="71" name="Shape 55"/>
          <p:cNvSpPr/>
          <p:nvPr/>
        </p:nvSpPr>
        <p:spPr>
          <a:xfrm>
            <a:off x="0" y="4434840"/>
            <a:ext cx="9144000" cy="713232"/>
          </a:xfrm>
          <a:prstGeom prst="roundRect">
            <a:avLst/>
          </a:prstGeom>
          <a:solidFill>
            <a:srgbClr val="F28C28"/>
          </a:solidFill>
          <a:ln/>
        </p:spPr>
      </p:sp>
      <p:sp>
        <p:nvSpPr>
          <p:cNvPr id="72" name="Text 56"/>
          <p:cNvSpPr/>
          <p:nvPr/>
        </p:nvSpPr>
        <p:spPr>
          <a:xfrm>
            <a:off x="411480" y="4462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Library?</a:t>
            </a:r>
            <a:endParaRPr lang="en-US" sz="1400" dirty="0"/>
          </a:p>
        </p:txBody>
      </p:sp>
      <p:sp>
        <p:nvSpPr>
          <p:cNvPr id="73" name="Text 57"/>
          <p:cNvSpPr/>
          <p:nvPr/>
        </p:nvSpPr>
        <p:spPr>
          <a:xfrm>
            <a:off x="41148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free demo today!</a:t>
            </a:r>
            <a:endParaRPr lang="en-US" sz="900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0" y="4553712"/>
            <a:ext cx="164592" cy="164592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4041648" y="45262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pravinyaits@gmail.com</a:t>
            </a:r>
            <a:endParaRPr lang="en-US" sz="800" dirty="0"/>
          </a:p>
        </p:txBody>
      </p:sp>
      <p:pic>
        <p:nvPicPr>
          <p:cNvPr id="76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0480" y="4773168"/>
            <a:ext cx="164592" cy="164592"/>
          </a:xfrm>
          <a:prstGeom prst="rect">
            <a:avLst/>
          </a:prstGeom>
        </p:spPr>
      </p:pic>
      <p:sp>
        <p:nvSpPr>
          <p:cNvPr id="77" name="Text 59"/>
          <p:cNvSpPr/>
          <p:nvPr/>
        </p:nvSpPr>
        <p:spPr>
          <a:xfrm>
            <a:off x="4041648" y="4745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+91 9448821697</a:t>
            </a:r>
            <a:endParaRPr lang="en-US" sz="800" dirty="0"/>
          </a:p>
        </p:txBody>
      </p:sp>
      <p:pic>
        <p:nvPicPr>
          <p:cNvPr id="7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69280" y="4553712"/>
            <a:ext cx="164592" cy="164592"/>
          </a:xfrm>
          <a:prstGeom prst="rect">
            <a:avLst/>
          </a:prstGeom>
        </p:spPr>
      </p:pic>
      <p:sp>
        <p:nvSpPr>
          <p:cNvPr id="79" name="Text 60"/>
          <p:cNvSpPr/>
          <p:nvPr/>
        </p:nvSpPr>
        <p:spPr>
          <a:xfrm>
            <a:off x="5870448" y="45262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www.pravinyainfo.com</a:t>
            </a:r>
            <a:endParaRPr lang="en-US" sz="800" dirty="0"/>
          </a:p>
        </p:txBody>
      </p:sp>
      <p:pic>
        <p:nvPicPr>
          <p:cNvPr id="80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9280" y="4773168"/>
            <a:ext cx="164592" cy="164592"/>
          </a:xfrm>
          <a:prstGeom prst="rect">
            <a:avLst/>
          </a:prstGeom>
        </p:spPr>
      </p:pic>
      <p:sp>
        <p:nvSpPr>
          <p:cNvPr id="81" name="Text 61"/>
          <p:cNvSpPr/>
          <p:nvPr/>
        </p:nvSpPr>
        <p:spPr>
          <a:xfrm>
            <a:off x="5870448" y="4745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 Infotech, Hubballi</a:t>
            </a:r>
            <a:endParaRPr lang="en-US" sz="800" dirty="0"/>
          </a:p>
        </p:txBody>
      </p:sp>
      <p:sp>
        <p:nvSpPr>
          <p:cNvPr id="82" name="Shape 62"/>
          <p:cNvSpPr/>
          <p:nvPr/>
        </p:nvSpPr>
        <p:spPr>
          <a:xfrm>
            <a:off x="7863840" y="45262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0F1235"/>
          </a:solidFill>
          <a:ln/>
        </p:spPr>
      </p:sp>
      <p:sp>
        <p:nvSpPr>
          <p:cNvPr id="83" name="Text 63"/>
          <p:cNvSpPr/>
          <p:nvPr/>
        </p:nvSpPr>
        <p:spPr>
          <a:xfrm>
            <a:off x="7863840" y="4526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Pravinya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Infotech</a:t>
            </a:r>
            <a:endParaRPr lang="en-US" sz="9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EC5B1B-B4A1-9A8C-41CD-70802C9FEB84}"/>
              </a:ext>
            </a:extLst>
          </p:cNvPr>
          <p:cNvSpPr txBox="1"/>
          <p:nvPr/>
        </p:nvSpPr>
        <p:spPr>
          <a:xfrm>
            <a:off x="357692" y="1342495"/>
            <a:ext cx="25683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1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Prakashgoud</a:t>
            </a:r>
            <a:r>
              <a:rPr lang="en-US" sz="11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Patil (Dr. P R Patil )</a:t>
            </a:r>
            <a:endParaRPr lang="en-US" sz="11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On-screen Show (16:9)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BookNest – Promotional Poster</dc:title>
  <dc:subject>PptxGenJS Presentation</dc:subject>
  <dc:creator>PptxGenJS</dc:creator>
  <cp:lastModifiedBy>Praneet Patil</cp:lastModifiedBy>
  <cp:revision>2</cp:revision>
  <dcterms:created xsi:type="dcterms:W3CDTF">2026-06-18T06:52:16Z</dcterms:created>
  <dcterms:modified xsi:type="dcterms:W3CDTF">2026-06-19T03:33:25Z</dcterms:modified>
</cp:coreProperties>
</file>